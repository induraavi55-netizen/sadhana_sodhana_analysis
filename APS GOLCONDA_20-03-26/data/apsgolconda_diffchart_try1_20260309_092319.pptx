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80" r:id="rId11"/>
    <p:sldId id="277" r:id="rId12"/>
    <p:sldId id="278" r:id="rId13"/>
    <p:sldId id="279" r:id="rId14"/>
  </p:sldIdLst>
  <p:sldSz cx="9144000" cy="5143500" type="screen16x9"/>
  <p:notesSz cx="6858000" cy="9144000"/>
  <p:embeddedFontLst>
    <p:embeddedFont>
      <p:font typeface="Fraunces" panose="020B0604020202020204" charset="0"/>
      <p:regular r:id="rId16"/>
      <p:bold r:id="rId17"/>
      <p:italic r:id="rId18"/>
      <p:boldItalic r:id="rId19"/>
    </p:embeddedFont>
    <p:embeddedFont>
      <p:font typeface="Fraunces ExtraBold" panose="020B0604020202020204" charset="0"/>
      <p:bold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B2B"/>
    <a:srgbClr val="E5A900"/>
    <a:srgbClr val="9FB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347363"/>
              </a:solidFill>
            </c:spPr>
            <c:extLst>
              <c:ext xmlns:c16="http://schemas.microsoft.com/office/drawing/2014/chart" uri="{C3380CC4-5D6E-409C-BE32-E72D297353CC}">
                <c16:uniqueId val="{00000001-1F56-49A7-88D1-67CFB0F4DCDB}"/>
              </c:ext>
            </c:extLst>
          </c:dPt>
          <c:dPt>
            <c:idx val="1"/>
            <c:bubble3D val="0"/>
            <c:spPr>
              <a:solidFill>
                <a:srgbClr val="BFBFBF"/>
              </a:solidFill>
            </c:spPr>
            <c:extLst>
              <c:ext xmlns:c16="http://schemas.microsoft.com/office/drawing/2014/chart" uri="{C3380CC4-5D6E-409C-BE32-E72D297353CC}">
                <c16:uniqueId val="{00000003-1F56-49A7-88D1-67CFB0F4DCD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149</c:v>
                </c:pt>
                <c:pt idx="1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56-49A7-88D1-67CFB0F4DCDB}"/>
            </c:ext>
          </c:extLst>
        </c:ser>
        <c:dLbls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F81BD"/>
              </a:solidFill>
            </c:spPr>
            <c:extLst>
              <c:ext xmlns:c16="http://schemas.microsoft.com/office/drawing/2014/chart" uri="{C3380CC4-5D6E-409C-BE32-E72D297353CC}">
                <c16:uniqueId val="{00000001-9B8E-4C9A-8C7F-89AAF6A269D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t>183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B8E-4C9A-8C7F-89AAF6A269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4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8E-4C9A-8C7F-89AAF6A269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347363"/>
              </a:solidFill>
            </c:spPr>
            <c:extLst>
              <c:ext xmlns:c16="http://schemas.microsoft.com/office/drawing/2014/chart" uri="{C3380CC4-5D6E-409C-BE32-E72D297353CC}">
                <c16:uniqueId val="{00000004-9B8E-4C9A-8C7F-89AAF6A269D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t>149(81%)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B8E-4C9A-8C7F-89AAF6A269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4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B8E-4C9A-8C7F-89AAF6A269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0"/>
        <c:overlap val="-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5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1-A9E3-4D08-9DC7-B5E4031DEF2A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3-A9E3-4D08-9DC7-B5E4031DEF2A}"/>
              </c:ext>
            </c:extLst>
          </c:dPt>
          <c:dPt>
            <c:idx val="2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5-A9E3-4D08-9DC7-B5E4031DEF2A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</c:v>
                </c:pt>
                <c:pt idx="1">
                  <c:v>69</c:v>
                </c:pt>
                <c:pt idx="2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9E3-4D08-9DC7-B5E4031DEF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1-C7E7-4840-9F21-92352DE94829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3-C7E7-4840-9F21-92352DE94829}"/>
              </c:ext>
            </c:extLst>
          </c:dPt>
          <c:dPt>
            <c:idx val="2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5-C7E7-4840-9F21-92352DE94829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</c:v>
                </c:pt>
                <c:pt idx="1">
                  <c:v>69</c:v>
                </c:pt>
                <c:pt idx="2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7E7-4840-9F21-92352DE9482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1-4B72-4E8D-8EA3-BED88FCFD4E8}"/>
              </c:ext>
            </c:extLst>
          </c:dPt>
          <c:dPt>
            <c:idx val="1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3-4B72-4E8D-8EA3-BED88FCFD4E8}"/>
              </c:ext>
            </c:extLst>
          </c:dPt>
          <c:dPt>
            <c:idx val="2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5-4B72-4E8D-8EA3-BED88FCFD4E8}"/>
              </c:ext>
            </c:extLst>
          </c:dPt>
          <c:dPt>
            <c:idx val="3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7-4B72-4E8D-8EA3-BED88FCFD4E8}"/>
              </c:ext>
            </c:extLst>
          </c:dPt>
          <c:dPt>
            <c:idx val="4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9-4B72-4E8D-8EA3-BED88FCFD4E8}"/>
              </c:ext>
            </c:extLst>
          </c:dPt>
          <c:dPt>
            <c:idx val="5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B-4B72-4E8D-8EA3-BED88FCFD4E8}"/>
              </c:ext>
            </c:extLst>
          </c:dPt>
          <c:dPt>
            <c:idx val="6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D-4B72-4E8D-8EA3-BED88FCFD4E8}"/>
              </c:ext>
            </c:extLst>
          </c:dPt>
          <c:dPt>
            <c:idx val="7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F-4B72-4E8D-8EA3-BED88FCFD4E8}"/>
              </c:ext>
            </c:extLst>
          </c:dPt>
          <c:dPt>
            <c:idx val="8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11-4B72-4E8D-8EA3-BED88FCFD4E8}"/>
              </c:ext>
            </c:extLst>
          </c:dPt>
          <c:dPt>
            <c:idx val="9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13-4B72-4E8D-8EA3-BED88FCFD4E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t>65%(Q2)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B72-4E8D-8EA3-BED88FCFD4E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66%(Q7)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B72-4E8D-8EA3-BED88FCFD4E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66%(Q4)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B72-4E8D-8EA3-BED88FCFD4E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t>67%(Q3)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B72-4E8D-8EA3-BED88FCFD4E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t>71%(Q1,Q5)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4B72-4E8D-8EA3-BED88FCFD4E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t>71%(Q8)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4B72-4E8D-8EA3-BED88FCFD4E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t>71%(Q10,Q11,Q12,Q15,Q9)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4B72-4E8D-8EA3-BED88FCFD4E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t>81%(Q6)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4B72-4E8D-8EA3-BED88FCFD4E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t>87%(Q14)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4B72-4E8D-8EA3-BED88FCFD4E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t>92%(Q13)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4B72-4E8D-8EA3-BED88FCFD4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Identify Present Tense</c:v>
                </c:pt>
                <c:pt idx="1">
                  <c:v>Identify Nouns</c:v>
                </c:pt>
                <c:pt idx="2">
                  <c:v>Identify Past Tense</c:v>
                </c:pt>
                <c:pt idx="3">
                  <c:v>Identify Adverbs</c:v>
                </c:pt>
                <c:pt idx="4">
                  <c:v>Identify Prepositions</c:v>
                </c:pt>
                <c:pt idx="5">
                  <c:v>Comprehend Literal Information</c:v>
                </c:pt>
                <c:pt idx="6">
                  <c:v>Explain How Text Elements Build Meaning</c:v>
                </c:pt>
                <c:pt idx="7">
                  <c:v>Identify Conjunctions</c:v>
                </c:pt>
                <c:pt idx="8">
                  <c:v>Make And Justify Inference Meaning Using Textual Evidence</c:v>
                </c:pt>
                <c:pt idx="9">
                  <c:v>Retrieve Key Details From Fiction And Non-Fiction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65</c:v>
                </c:pt>
                <c:pt idx="1">
                  <c:v>66</c:v>
                </c:pt>
                <c:pt idx="2">
                  <c:v>66</c:v>
                </c:pt>
                <c:pt idx="3">
                  <c:v>67</c:v>
                </c:pt>
                <c:pt idx="4">
                  <c:v>71</c:v>
                </c:pt>
                <c:pt idx="5">
                  <c:v>71</c:v>
                </c:pt>
                <c:pt idx="6">
                  <c:v>71</c:v>
                </c:pt>
                <c:pt idx="7">
                  <c:v>81</c:v>
                </c:pt>
                <c:pt idx="8">
                  <c:v>87</c:v>
                </c:pt>
                <c:pt idx="9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B72-4E8D-8EA3-BED88FCFD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1-1573-48DF-AEC5-FE8A22FE0506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3-1573-48DF-AEC5-FE8A22FE0506}"/>
              </c:ext>
            </c:extLst>
          </c:dPt>
          <c:dPt>
            <c:idx val="2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5-1573-48DF-AEC5-FE8A22FE0506}"/>
              </c:ext>
            </c:extLst>
          </c:dPt>
          <c:dPt>
            <c:idx val="3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7-1573-48DF-AEC5-FE8A22FE0506}"/>
              </c:ext>
            </c:extLst>
          </c:dPt>
          <c:dPt>
            <c:idx val="4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9-1573-48DF-AEC5-FE8A22FE050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t>62%(Q11,Q12,Q13)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573-48DF-AEC5-FE8A22FE050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65%(Q4,Q5,Q6)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573-48DF-AEC5-FE8A22FE050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66%(Q1,Q2,Q3)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573-48DF-AEC5-FE8A22FE050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t>73%(Q10,Q14,Q15)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573-48DF-AEC5-FE8A22FE050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t>78%(Q7,Q8,Q9)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1573-48DF-AEC5-FE8A22FE05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Symmetry</c:v>
                </c:pt>
                <c:pt idx="1">
                  <c:v>Estimation</c:v>
                </c:pt>
                <c:pt idx="2">
                  <c:v>Measurement (Time)</c:v>
                </c:pt>
                <c:pt idx="3">
                  <c:v>Multiple Steps</c:v>
                </c:pt>
                <c:pt idx="4">
                  <c:v>Addition And Subtraction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65</c:v>
                </c:pt>
                <c:pt idx="2">
                  <c:v>66</c:v>
                </c:pt>
                <c:pt idx="3">
                  <c:v>73</c:v>
                </c:pt>
                <c:pt idx="4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573-48DF-AEC5-FE8A22FE05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1-0FB3-4188-85E2-E09574E6C295}"/>
              </c:ext>
            </c:extLst>
          </c:dPt>
          <c:dPt>
            <c:idx val="1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3-0FB3-4188-85E2-E09574E6C295}"/>
              </c:ext>
            </c:extLst>
          </c:dPt>
          <c:dPt>
            <c:idx val="2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5-0FB3-4188-85E2-E09574E6C295}"/>
              </c:ext>
            </c:extLst>
          </c:dPt>
          <c:dPt>
            <c:idx val="3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7-0FB3-4188-85E2-E09574E6C295}"/>
              </c:ext>
            </c:extLst>
          </c:dPt>
          <c:dPt>
            <c:idx val="4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9-0FB3-4188-85E2-E09574E6C295}"/>
              </c:ext>
            </c:extLst>
          </c:dPt>
          <c:dPt>
            <c:idx val="5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B-0FB3-4188-85E2-E09574E6C295}"/>
              </c:ext>
            </c:extLst>
          </c:dPt>
          <c:dPt>
            <c:idx val="6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D-0FB3-4188-85E2-E09574E6C295}"/>
              </c:ext>
            </c:extLst>
          </c:dPt>
          <c:dPt>
            <c:idx val="7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F-0FB3-4188-85E2-E09574E6C295}"/>
              </c:ext>
            </c:extLst>
          </c:dPt>
          <c:dPt>
            <c:idx val="8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11-0FB3-4188-85E2-E09574E6C29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73%(Q3,Q4)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FB3-4188-85E2-E09574E6C29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IN"/>
                      <a:t>75%(Q5)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FB3-4188-85E2-E09574E6C29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IN"/>
                      <a:t>75%(Q13)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FB3-4188-85E2-E09574E6C29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IN"/>
                      <a:t>77%(Q2)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FB3-4188-85E2-E09574E6C29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fr-FR"/>
                      <a:t>78%(Q14,Q15,Q7,Q8)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FB3-4188-85E2-E09574E6C29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IN"/>
                      <a:t>80%(Q9)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0FB3-4188-85E2-E09574E6C29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IN"/>
                      <a:t>84%(Q10,Q11,Q12)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0FB3-4188-85E2-E09574E6C29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IN"/>
                      <a:t>86%(Q1)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0FB3-4188-85E2-E09574E6C295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IN"/>
                      <a:t>91%(Q6)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0FB3-4188-85E2-E09574E6C2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Complete Sanitation Provision</c:v>
                </c:pt>
                <c:pt idx="1">
                  <c:v>Culture</c:v>
                </c:pt>
                <c:pt idx="2">
                  <c:v>How Animals Live</c:v>
                </c:pt>
                <c:pt idx="3">
                  <c:v>Sanitation Requirements</c:v>
                </c:pt>
                <c:pt idx="4">
                  <c:v>Biodiversity</c:v>
                </c:pt>
                <c:pt idx="5">
                  <c:v>Brick-Making Methods</c:v>
                </c:pt>
                <c:pt idx="6">
                  <c:v>House Construction Materials</c:v>
                </c:pt>
                <c:pt idx="7">
                  <c:v>Healthy Food Choices</c:v>
                </c:pt>
                <c:pt idx="8">
                  <c:v>Rules Of The Games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73</c:v>
                </c:pt>
                <c:pt idx="1">
                  <c:v>75</c:v>
                </c:pt>
                <c:pt idx="2">
                  <c:v>75</c:v>
                </c:pt>
                <c:pt idx="3">
                  <c:v>77</c:v>
                </c:pt>
                <c:pt idx="4">
                  <c:v>78</c:v>
                </c:pt>
                <c:pt idx="5">
                  <c:v>80</c:v>
                </c:pt>
                <c:pt idx="6">
                  <c:v>84</c:v>
                </c:pt>
                <c:pt idx="7">
                  <c:v>86</c:v>
                </c:pt>
                <c:pt idx="8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FB3-4188-85E2-E09574E6C2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Learning Outcome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FBFCC"/>
              </a:solidFill>
            </c:spPr>
            <c:extLst>
              <c:ext xmlns:c16="http://schemas.microsoft.com/office/drawing/2014/chart" uri="{C3380CC4-5D6E-409C-BE32-E72D297353CC}">
                <c16:uniqueId val="{00000001-9881-4733-A55E-B19D628CEEA5}"/>
              </c:ext>
            </c:extLst>
          </c:dPt>
          <c:dPt>
            <c:idx val="1"/>
            <c:invertIfNegative val="1"/>
            <c:bubble3D val="0"/>
            <c:spPr>
              <a:solidFill>
                <a:srgbClr val="E5A900"/>
              </a:solidFill>
            </c:spPr>
            <c:extLst>
              <c:ext xmlns:c16="http://schemas.microsoft.com/office/drawing/2014/chart" uri="{C3380CC4-5D6E-409C-BE32-E72D297353CC}">
                <c16:uniqueId val="{00000003-9881-4733-A55E-B19D628CEEA5}"/>
              </c:ext>
            </c:extLst>
          </c:dPt>
          <c:dPt>
            <c:idx val="2"/>
            <c:invertIfNegative val="1"/>
            <c:bubble3D val="0"/>
            <c:spPr>
              <a:solidFill>
                <a:srgbClr val="FF2B2B"/>
              </a:solidFill>
            </c:spPr>
            <c:extLst>
              <c:ext xmlns:c16="http://schemas.microsoft.com/office/drawing/2014/chart" uri="{C3380CC4-5D6E-409C-BE32-E72D297353CC}">
                <c16:uniqueId val="{00000005-9881-4733-A55E-B19D628CEEA5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73</c:v>
                </c:pt>
                <c:pt idx="2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881-4733-A55E-B19D628CEE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FBFCC"/>
              </a:solidFill>
            </c:spPr>
            <c:extLst>
              <c:ext xmlns:c16="http://schemas.microsoft.com/office/drawing/2014/chart" uri="{C3380CC4-5D6E-409C-BE32-E72D297353CC}">
                <c16:uniqueId val="{00000001-C191-4E78-9BA5-45A42B43839A}"/>
              </c:ext>
            </c:extLst>
          </c:dPt>
          <c:dPt>
            <c:idx val="1"/>
            <c:invertIfNegative val="1"/>
            <c:bubble3D val="0"/>
            <c:spPr>
              <a:solidFill>
                <a:srgbClr val="E5A900"/>
              </a:solidFill>
            </c:spPr>
            <c:extLst>
              <c:ext xmlns:c16="http://schemas.microsoft.com/office/drawing/2014/chart" uri="{C3380CC4-5D6E-409C-BE32-E72D297353CC}">
                <c16:uniqueId val="{00000003-C191-4E78-9BA5-45A42B43839A}"/>
              </c:ext>
            </c:extLst>
          </c:dPt>
          <c:dPt>
            <c:idx val="2"/>
            <c:invertIfNegative val="1"/>
            <c:bubble3D val="0"/>
            <c:spPr>
              <a:solidFill>
                <a:srgbClr val="FF2B2B"/>
              </a:solidFill>
            </c:spPr>
            <c:extLst>
              <c:ext xmlns:c16="http://schemas.microsoft.com/office/drawing/2014/chart" uri="{C3380CC4-5D6E-409C-BE32-E72D297353CC}">
                <c16:uniqueId val="{00000005-C191-4E78-9BA5-45A42B43839A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</c:v>
                </c:pt>
                <c:pt idx="1">
                  <c:v>68</c:v>
                </c:pt>
                <c:pt idx="2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191-4E78-9BA5-45A42B4383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FBFCC"/>
              </a:solidFill>
            </c:spPr>
            <c:extLst>
              <c:ext xmlns:c16="http://schemas.microsoft.com/office/drawing/2014/chart" uri="{C3380CC4-5D6E-409C-BE32-E72D297353CC}">
                <c16:uniqueId val="{00000001-11FB-4B62-ACC5-880E22AF920F}"/>
              </c:ext>
            </c:extLst>
          </c:dPt>
          <c:dPt>
            <c:idx val="1"/>
            <c:invertIfNegative val="1"/>
            <c:bubble3D val="0"/>
            <c:spPr>
              <a:solidFill>
                <a:srgbClr val="E5A900"/>
              </a:solidFill>
            </c:spPr>
            <c:extLst>
              <c:ext xmlns:c16="http://schemas.microsoft.com/office/drawing/2014/chart" uri="{C3380CC4-5D6E-409C-BE32-E72D297353CC}">
                <c16:uniqueId val="{00000003-11FB-4B62-ACC5-880E22AF920F}"/>
              </c:ext>
            </c:extLst>
          </c:dPt>
          <c:dPt>
            <c:idx val="2"/>
            <c:invertIfNegative val="1"/>
            <c:bubble3D val="0"/>
            <c:spPr>
              <a:solidFill>
                <a:srgbClr val="FF2B2B"/>
              </a:solidFill>
            </c:spPr>
            <c:extLst>
              <c:ext xmlns:c16="http://schemas.microsoft.com/office/drawing/2014/chart" uri="{C3380CC4-5D6E-409C-BE32-E72D297353CC}">
                <c16:uniqueId val="{00000005-11FB-4B62-ACC5-880E22AF920F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</c:v>
                </c:pt>
                <c:pt idx="1">
                  <c:v>83</c:v>
                </c:pt>
                <c:pt idx="2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1FB-4B62-ACC5-880E22AF920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reg_vs_part_schl_wise - APS GOLCONDA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183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-381000" y="1476375"/>
          <a:ext cx="9906000" cy="4810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-381000" y="1476375"/>
          <a:ext cx="9906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-381000" y="1476375"/>
          <a:ext cx="9906000" cy="4619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C00BB-84DA-B488-C9EE-24B4F663E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DFB6D-0D9E-BFD3-98C6-EFFC3867B56D}"/>
              </a:ext>
            </a:extLst>
          </p:cNvPr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grade_4_science_lo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24C68-CB9B-D7DB-F1EC-BD7436F20143}"/>
              </a:ext>
            </a:extLst>
          </p:cNvPr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2026-03-09</a:t>
            </a:r>
          </a:p>
        </p:txBody>
      </p:sp>
      <p:pic>
        <p:nvPicPr>
          <p:cNvPr id="5" name="Picture 4" descr="Grade_4_English_chart.png">
            <a:extLst>
              <a:ext uri="{FF2B5EF4-FFF2-40B4-BE49-F238E27FC236}">
                <a16:creationId xmlns:a16="http://schemas.microsoft.com/office/drawing/2014/main" id="{66995ADA-B4D4-ADE1-498B-711EA4E0A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030" y="814295"/>
            <a:ext cx="6466886" cy="374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93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419778"/>
              </p:ext>
            </p:extLst>
          </p:nvPr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820073"/>
              </p:ext>
            </p:extLst>
          </p:nvPr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009554"/>
              </p:ext>
            </p:extLst>
          </p:nvPr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348</Words>
  <Application>Microsoft Office PowerPoint</Application>
  <PresentationFormat>On-screen Show (16:9)</PresentationFormat>
  <Paragraphs>71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Fraunces</vt:lpstr>
      <vt:lpstr>Fraunces ExtraBold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3</cp:revision>
  <dcterms:modified xsi:type="dcterms:W3CDTF">2026-03-20T07:18:12Z</dcterms:modified>
</cp:coreProperties>
</file>