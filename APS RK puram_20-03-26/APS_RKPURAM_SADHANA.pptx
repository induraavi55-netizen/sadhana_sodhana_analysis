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9144000" cy="5143500" type="screen16x9"/>
  <p:notesSz cx="6858000" cy="9144000"/>
  <p:embeddedFontLst>
    <p:embeddedFont>
      <p:font typeface="Fraunces" panose="020B0604020202020204" charset="0"/>
      <p:regular r:id="rId15"/>
      <p:bold r:id="rId16"/>
      <p:italic r:id="rId17"/>
      <p:boldItalic r:id="rId18"/>
    </p:embeddedFont>
    <p:embeddedFont>
      <p:font typeface="Fraunces ExtraBold" panose="020B0604020202020204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347363"/>
              </a:solidFill>
            </c:spPr>
            <c:extLst>
              <c:ext xmlns:c16="http://schemas.microsoft.com/office/drawing/2014/chart" uri="{C3380CC4-5D6E-409C-BE32-E72D297353CC}">
                <c16:uniqueId val="{00000001-4D3A-434B-8F2A-DE13B75F7141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3-4D3A-434B-8F2A-DE13B75F71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277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3A-434B-8F2A-DE13B75F7141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F81BD"/>
              </a:solidFill>
            </c:spPr>
            <c:extLst>
              <c:ext xmlns:c16="http://schemas.microsoft.com/office/drawing/2014/chart" uri="{C3380CC4-5D6E-409C-BE32-E72D297353CC}">
                <c16:uniqueId val="{00000001-9DB4-416B-BFAC-845A1A08AC8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DB4-416B-BFAC-845A1A08AC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B4-416B-BFAC-845A1A08AC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47363"/>
              </a:solidFill>
            </c:spPr>
            <c:extLst>
              <c:ext xmlns:c16="http://schemas.microsoft.com/office/drawing/2014/chart" uri="{C3380CC4-5D6E-409C-BE32-E72D297353CC}">
                <c16:uniqueId val="{00000004-9DB4-416B-BFAC-845A1A08AC8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277(97%)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DB4-416B-BFAC-845A1A08AC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B4-416B-BFAC-845A1A08AC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5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BC27-4377-AB1E-E506FF3C2F43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BC27-4377-AB1E-E506FF3C2F43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BC27-4377-AB1E-E506FF3C2F4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67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27-4377-AB1E-E506FF3C2F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D95E-4948-8F06-219F531E0AB0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D95E-4948-8F06-219F531E0AB0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D95E-4948-8F06-219F531E0AB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67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95E-4948-8F06-219F531E0A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3369-4B8E-8870-99213B74E3F3}"/>
              </c:ext>
            </c:extLst>
          </c:dPt>
          <c:dPt>
            <c:idx val="1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3-3369-4B8E-8870-99213B74E3F3}"/>
              </c:ext>
            </c:extLst>
          </c:dPt>
          <c:dPt>
            <c:idx val="2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5-3369-4B8E-8870-99213B74E3F3}"/>
              </c:ext>
            </c:extLst>
          </c:dPt>
          <c:dPt>
            <c:idx val="3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7-3369-4B8E-8870-99213B74E3F3}"/>
              </c:ext>
            </c:extLst>
          </c:dPt>
          <c:dPt>
            <c:idx val="4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9-3369-4B8E-8870-99213B74E3F3}"/>
              </c:ext>
            </c:extLst>
          </c:dPt>
          <c:dPt>
            <c:idx val="5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B-3369-4B8E-8870-99213B74E3F3}"/>
              </c:ext>
            </c:extLst>
          </c:dPt>
          <c:dPt>
            <c:idx val="6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D-3369-4B8E-8870-99213B74E3F3}"/>
              </c:ext>
            </c:extLst>
          </c:dPt>
          <c:dPt>
            <c:idx val="7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F-3369-4B8E-8870-99213B74E3F3}"/>
              </c:ext>
            </c:extLst>
          </c:dPt>
          <c:dPt>
            <c:idx val="8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11-3369-4B8E-8870-99213B74E3F3}"/>
              </c:ext>
            </c:extLst>
          </c:dPt>
          <c:dPt>
            <c:idx val="9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13-3369-4B8E-8870-99213B74E3F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Retrieve And Record Information/Identify Key Details</c:v>
                </c:pt>
                <c:pt idx="1">
                  <c:v>Make Inferences From The Text/Explain And</c:v>
                </c:pt>
                <c:pt idx="2">
                  <c:v>Conjunction</c:v>
                </c:pt>
                <c:pt idx="3">
                  <c:v>Preposition</c:v>
                </c:pt>
                <c:pt idx="4">
                  <c:v>Identify/Explain How Information/Narrative Content Is Related</c:v>
                </c:pt>
                <c:pt idx="5">
                  <c:v>Comprehend Literal Information</c:v>
                </c:pt>
                <c:pt idx="6">
                  <c:v>Adverb</c:v>
                </c:pt>
                <c:pt idx="7">
                  <c:v>Noun</c:v>
                </c:pt>
                <c:pt idx="8">
                  <c:v>Past Tense</c:v>
                </c:pt>
                <c:pt idx="9">
                  <c:v>Present Tense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</c:v>
                </c:pt>
                <c:pt idx="1">
                  <c:v>83</c:v>
                </c:pt>
                <c:pt idx="2">
                  <c:v>81</c:v>
                </c:pt>
                <c:pt idx="3">
                  <c:v>73</c:v>
                </c:pt>
                <c:pt idx="4">
                  <c:v>70</c:v>
                </c:pt>
                <c:pt idx="5">
                  <c:v>69</c:v>
                </c:pt>
                <c:pt idx="6">
                  <c:v>64</c:v>
                </c:pt>
                <c:pt idx="7">
                  <c:v>60</c:v>
                </c:pt>
                <c:pt idx="8">
                  <c:v>60</c:v>
                </c:pt>
                <c:pt idx="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369-4B8E-8870-99213B74E3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1-5C4D-417B-AA3C-953E176B9FBB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5C4D-417B-AA3C-953E176B9FBB}"/>
              </c:ext>
            </c:extLst>
          </c:dPt>
          <c:dPt>
            <c:idx val="2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5-5C4D-417B-AA3C-953E176B9FBB}"/>
              </c:ext>
            </c:extLst>
          </c:dPt>
          <c:dPt>
            <c:idx val="3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7-5C4D-417B-AA3C-953E176B9FBB}"/>
              </c:ext>
            </c:extLst>
          </c:dPt>
          <c:dPt>
            <c:idx val="4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9-5C4D-417B-AA3C-953E176B9FB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Addition And Subtraction</c:v>
                </c:pt>
                <c:pt idx="1">
                  <c:v>Multiple Steps</c:v>
                </c:pt>
                <c:pt idx="2">
                  <c:v>Measurement (Time)</c:v>
                </c:pt>
                <c:pt idx="3">
                  <c:v>Estimation</c:v>
                </c:pt>
                <c:pt idx="4">
                  <c:v>Symmetry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</c:v>
                </c:pt>
                <c:pt idx="1">
                  <c:v>74</c:v>
                </c:pt>
                <c:pt idx="2">
                  <c:v>63</c:v>
                </c:pt>
                <c:pt idx="3">
                  <c:v>59</c:v>
                </c:pt>
                <c:pt idx="4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C4D-417B-AA3C-953E176B9F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1-6E18-4AE9-9379-9D8687977304}"/>
              </c:ext>
            </c:extLst>
          </c:dPt>
          <c:dPt>
            <c:idx val="1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3-6E18-4AE9-9379-9D8687977304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6E18-4AE9-9379-9D8687977304}"/>
              </c:ext>
            </c:extLst>
          </c:dPt>
          <c:dPt>
            <c:idx val="3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7-6E18-4AE9-9379-9D8687977304}"/>
              </c:ext>
            </c:extLst>
          </c:dPt>
          <c:dPt>
            <c:idx val="4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9-6E18-4AE9-9379-9D8687977304}"/>
              </c:ext>
            </c:extLst>
          </c:dPt>
          <c:dPt>
            <c:idx val="5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B-6E18-4AE9-9379-9D8687977304}"/>
              </c:ext>
            </c:extLst>
          </c:dPt>
          <c:dPt>
            <c:idx val="6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D-6E18-4AE9-9379-9D8687977304}"/>
              </c:ext>
            </c:extLst>
          </c:dPt>
          <c:dPt>
            <c:idx val="7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F-6E18-4AE9-9379-9D8687977304}"/>
              </c:ext>
            </c:extLst>
          </c:dPt>
          <c:dPt>
            <c:idx val="8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11-6E18-4AE9-9379-9D8687977304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Rules Of The Games</c:v>
                </c:pt>
                <c:pt idx="1">
                  <c:v>What Kind Of Food Should We</c:v>
                </c:pt>
                <c:pt idx="2">
                  <c:v>Culture</c:v>
                </c:pt>
                <c:pt idx="3">
                  <c:v>Method Of Making Bricks</c:v>
                </c:pt>
                <c:pt idx="4">
                  <c:v>How Do Animals Live</c:v>
                </c:pt>
                <c:pt idx="5">
                  <c:v>Construction Of House - Other Materials</c:v>
                </c:pt>
                <c:pt idx="6">
                  <c:v>Biodiversity</c:v>
                </c:pt>
                <c:pt idx="7">
                  <c:v>Sanitation - A Compulsory Requirement</c:v>
                </c:pt>
                <c:pt idx="8">
                  <c:v>Complete Sanitation To Be Provided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96</c:v>
                </c:pt>
                <c:pt idx="1">
                  <c:v>87</c:v>
                </c:pt>
                <c:pt idx="2">
                  <c:v>83</c:v>
                </c:pt>
                <c:pt idx="3">
                  <c:v>81</c:v>
                </c:pt>
                <c:pt idx="4">
                  <c:v>79</c:v>
                </c:pt>
                <c:pt idx="5">
                  <c:v>77</c:v>
                </c:pt>
                <c:pt idx="6">
                  <c:v>71</c:v>
                </c:pt>
                <c:pt idx="7">
                  <c:v>70</c:v>
                </c:pt>
                <c:pt idx="8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E18-4AE9-9379-9D86879773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9B2C7"/>
              </a:solidFill>
            </c:spPr>
            <c:extLst>
              <c:ext xmlns:c16="http://schemas.microsoft.com/office/drawing/2014/chart" uri="{C3380CC4-5D6E-409C-BE32-E72D297353CC}">
                <c16:uniqueId val="{00000001-17D4-455C-928D-42730ADF1F90}"/>
              </c:ext>
            </c:extLst>
          </c:dPt>
          <c:dPt>
            <c:idx val="1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3-17D4-455C-928D-42730ADF1F90}"/>
              </c:ext>
            </c:extLst>
          </c:dPt>
          <c:dPt>
            <c:idx val="2"/>
            <c:invertIfNegative val="1"/>
            <c:bubble3D val="0"/>
            <c:spPr>
              <a:solidFill>
                <a:srgbClr val="4A3A63"/>
              </a:solidFill>
            </c:spPr>
            <c:extLst>
              <c:ext xmlns:c16="http://schemas.microsoft.com/office/drawing/2014/chart" uri="{C3380CC4-5D6E-409C-BE32-E72D297353CC}">
                <c16:uniqueId val="{00000005-17D4-455C-928D-42730ADF1F9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69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D4-455C-928D-42730ADF1F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 sz="1200" dirty="0"/>
                  <a:t>Performance % 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7D2A7"/>
              </a:solidFill>
            </c:spPr>
            <c:extLst>
              <c:ext xmlns:c16="http://schemas.microsoft.com/office/drawing/2014/chart" uri="{C3380CC4-5D6E-409C-BE32-E72D297353CC}">
                <c16:uniqueId val="{00000001-F968-4C08-B812-886C4A2F0046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F968-4C08-B812-886C4A2F0046}"/>
              </c:ext>
            </c:extLst>
          </c:dPt>
          <c:dPt>
            <c:idx val="2"/>
            <c:invertIfNegative val="1"/>
            <c:bubble3D val="0"/>
            <c:spPr>
              <a:solidFill>
                <a:srgbClr val="4F6528"/>
              </a:solidFill>
            </c:spPr>
            <c:extLst>
              <c:ext xmlns:c16="http://schemas.microsoft.com/office/drawing/2014/chart" uri="{C3380CC4-5D6E-409C-BE32-E72D297353CC}">
                <c16:uniqueId val="{00000005-F968-4C08-B812-886C4A2F0046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67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68-4C08-B812-886C4A2F00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 b="0" i="0" u="none" strike="noStrike" kern="1200" baseline="0">
                    <a:solidFill>
                      <a:srgbClr val="32323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0" i="0" u="none" strike="noStrike" kern="1200" baseline="0" dirty="0">
                    <a:solidFill>
                      <a:srgbClr val="323232"/>
                    </a:solidFill>
                  </a:rPr>
                  <a:t>Performance % 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BC6A3"/>
              </a:solidFill>
            </c:spPr>
            <c:extLst>
              <c:ext xmlns:c16="http://schemas.microsoft.com/office/drawing/2014/chart" uri="{C3380CC4-5D6E-409C-BE32-E72D297353CC}">
                <c16:uniqueId val="{00000001-E50C-4A33-9D31-5ECE112F2EA2}"/>
              </c:ext>
            </c:extLst>
          </c:dPt>
          <c:dPt>
            <c:idx val="1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3-E50C-4A33-9D31-5ECE112F2EA2}"/>
              </c:ext>
            </c:extLst>
          </c:dPt>
          <c:dPt>
            <c:idx val="2"/>
            <c:invertIfNegative val="1"/>
            <c:bubble3D val="0"/>
            <c:spPr>
              <a:solidFill>
                <a:srgbClr val="9C4A00"/>
              </a:solidFill>
            </c:spPr>
            <c:extLst>
              <c:ext xmlns:c16="http://schemas.microsoft.com/office/drawing/2014/chart" uri="{C3380CC4-5D6E-409C-BE32-E72D297353CC}">
                <c16:uniqueId val="{00000005-E50C-4A33-9D31-5ECE112F2EA2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83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50C-4A33-9D31-5ECE112F2E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 b="0" i="0" u="none" strike="noStrike" kern="1200" baseline="0">
                    <a:solidFill>
                      <a:srgbClr val="32323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0" i="0" u="none" strike="noStrike" kern="1200" baseline="0" dirty="0">
                    <a:solidFill>
                      <a:srgbClr val="323232"/>
                    </a:solidFill>
                  </a:rPr>
                  <a:t>Performance % 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APS R K PURAM Secunderabad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286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44278"/>
              </p:ext>
            </p:extLst>
          </p:nvPr>
        </p:nvGraphicFramePr>
        <p:xfrm>
          <a:off x="762000" y="1635512"/>
          <a:ext cx="7295685" cy="2307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6222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91590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75701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203</Words>
  <Application>Microsoft Office PowerPoint</Application>
  <PresentationFormat>On-screen Show (16:9)</PresentationFormat>
  <Paragraphs>46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Fraunces ExtraBold</vt:lpstr>
      <vt:lpstr>Fraunces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3</cp:revision>
  <dcterms:modified xsi:type="dcterms:W3CDTF">2026-03-04T07:21:24Z</dcterms:modified>
</cp:coreProperties>
</file>